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16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Opal ARR ($M)</c:v>
                </c:pt>
              </c:strCache>
            </c:strRef>
          </c:tx>
          <c:spPr>
            <a:solidFill>
              <a:srgbClr val="0037FF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Nov '25</c:v>
                </c:pt>
                <c:pt idx="1">
                  <c:v>Dec '25</c:v>
                </c:pt>
                <c:pt idx="2">
                  <c:v>Jan '26</c:v>
                </c:pt>
                <c:pt idx="3">
                  <c:v>Feb '26</c:v>
                </c:pt>
                <c:pt idx="4">
                  <c:v>Mar '26</c:v>
                </c:pt>
                <c:pt idx="5">
                  <c:v>Apr '26</c:v>
                </c:pt>
                <c:pt idx="6">
                  <c:v>May '26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4.0999999999999996</c:v>
                </c:pt>
                <c:pt idx="2">
                  <c:v>5.4</c:v>
                </c:pt>
                <c:pt idx="3">
                  <c:v>5.7</c:v>
                </c:pt>
                <c:pt idx="4">
                  <c:v>6.2</c:v>
                </c:pt>
                <c:pt idx="5">
                  <c:v>6.9</c:v>
                </c:pt>
                <c:pt idx="6">
                  <c:v>7.2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D81-1548-99A6-AEB3E07BB8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000">
                <a:solidFill>
                  <a:srgbClr val="10141D"/>
                </a:solidFill>
                <a:latin typeface="TT Common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969CAC"/>
                </a:solidFill>
                <a:latin typeface="TT Common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1554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TT Commons DemiBold"/>
              </a:rPr>
              <a:t>CS leadership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603504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TT Commons Book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0"/>
            <a:ext cx="1554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9AFFF"/>
                </a:solidFill>
                <a:latin typeface="TT Commons"/>
              </a:rPr>
              <a:t>Customer Success  ·  Optimizely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41148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0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T Commons DemiBold"/>
              </a:rPr>
              <a:t>ARR snapshot · May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645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10141D"/>
                </a:solidFill>
                <a:latin typeface="TT Commons DemiBold"/>
              </a:rPr>
              <a:t>Total ARR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0320"/>
            <a:ext cx="3703320" cy="5303520"/>
          </a:xfrm>
          <a:prstGeom prst="roundRect">
            <a:avLst>
              <a:gd name="adj" fmla="val 5000"/>
            </a:avLst>
          </a:prstGeom>
          <a:solidFill>
            <a:srgbClr val="CC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971800"/>
            <a:ext cx="3337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41D"/>
                </a:solidFill>
                <a:latin typeface="TT Commons DemiBold"/>
              </a:rPr>
              <a:t>Total ARR</a:t>
            </a:r>
          </a:p>
          <a:p>
            <a:pPr algn="l"/>
            <a:r>
              <a:rPr sz="5200" b="0">
                <a:solidFill>
                  <a:srgbClr val="10141D"/>
                </a:solidFill>
                <a:latin typeface="NB International Pro Mono"/>
              </a:rPr>
              <a:t>$418.8M</a:t>
            </a:r>
          </a:p>
          <a:p>
            <a:pPr algn="l"/>
            <a:r>
              <a:rPr sz="1800" b="0">
                <a:solidFill>
                  <a:srgbClr val="10141D"/>
                </a:solidFill>
                <a:latin typeface="TT Commons"/>
              </a:rPr>
              <a:t>as of 31 May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46904" y="2560320"/>
            <a:ext cx="3703320" cy="5303520"/>
          </a:xfrm>
          <a:prstGeom prst="roundRect">
            <a:avLst>
              <a:gd name="adj" fmla="val 5000"/>
            </a:avLst>
          </a:prstGeom>
          <a:solidFill>
            <a:srgbClr val="99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21224" y="2971800"/>
            <a:ext cx="3337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41D"/>
                </a:solidFill>
                <a:latin typeface="TT Commons DemiBold"/>
              </a:rPr>
              <a:t>EO ARR</a:t>
            </a:r>
          </a:p>
          <a:p>
            <a:pPr algn="l"/>
            <a:r>
              <a:rPr sz="5200" b="0">
                <a:solidFill>
                  <a:srgbClr val="10141D"/>
                </a:solidFill>
                <a:latin typeface="NB International Pro Mono"/>
              </a:rPr>
              <a:t>$163.9M</a:t>
            </a:r>
          </a:p>
          <a:p>
            <a:pPr algn="l"/>
            <a:r>
              <a:rPr sz="1800" b="0">
                <a:solidFill>
                  <a:srgbClr val="10141D"/>
                </a:solidFill>
                <a:latin typeface="TT Commons"/>
              </a:rPr>
              <a:t>Experience Optimization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408" y="2560320"/>
            <a:ext cx="3703320" cy="5303520"/>
          </a:xfrm>
          <a:prstGeom prst="roundRect">
            <a:avLst>
              <a:gd name="adj" fmla="val 5000"/>
            </a:avLst>
          </a:prstGeom>
          <a:solidFill>
            <a:srgbClr val="D9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53728" y="2971800"/>
            <a:ext cx="3337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41D"/>
                </a:solidFill>
                <a:latin typeface="TT Commons DemiBold"/>
              </a:rPr>
              <a:t>CMP ARR</a:t>
            </a:r>
          </a:p>
          <a:p>
            <a:pPr algn="l"/>
            <a:r>
              <a:rPr sz="5200" b="0">
                <a:solidFill>
                  <a:srgbClr val="10141D"/>
                </a:solidFill>
                <a:latin typeface="NB International Pro Mono"/>
              </a:rPr>
              <a:t>$22.3M</a:t>
            </a:r>
          </a:p>
          <a:p>
            <a:pPr algn="l"/>
            <a:r>
              <a:rPr sz="1800" b="0">
                <a:solidFill>
                  <a:srgbClr val="10141D"/>
                </a:solidFill>
                <a:latin typeface="TT Commons"/>
              </a:rPr>
              <a:t>Content and Commerce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011912" y="2560320"/>
            <a:ext cx="3703320" cy="5303520"/>
          </a:xfrm>
          <a:prstGeom prst="roundRect">
            <a:avLst>
              <a:gd name="adj" fmla="val 5000"/>
            </a:avLst>
          </a:prstGeom>
          <a:solidFill>
            <a:srgbClr val="E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86232" y="2971800"/>
            <a:ext cx="3337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41D"/>
                </a:solidFill>
                <a:latin typeface="TT Commons DemiBold"/>
              </a:rPr>
              <a:t>Opal ARR</a:t>
            </a:r>
          </a:p>
          <a:p>
            <a:pPr algn="l"/>
            <a:r>
              <a:rPr sz="5200" b="0">
                <a:solidFill>
                  <a:srgbClr val="10141D"/>
                </a:solidFill>
                <a:latin typeface="NB International Pro Mono"/>
              </a:rPr>
              <a:t>$7.2M</a:t>
            </a:r>
          </a:p>
          <a:p>
            <a:pPr algn="l"/>
            <a:r>
              <a:rPr sz="1800" b="0">
                <a:solidFill>
                  <a:srgbClr val="10141D"/>
                </a:solidFill>
                <a:latin typeface="TT Commons"/>
              </a:rPr>
              <a:t>+4.4% MoM · +142% 6mo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411480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0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T Commons DemiBold"/>
              </a:rPr>
              <a:t>Renewal performance · Q2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10141D"/>
                </a:solidFill>
                <a:latin typeface="TT Commons DemiBold"/>
              </a:rPr>
              <a:t>Renewal rate by ARR band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0" y="914400"/>
            <a:ext cx="4389120" cy="3931920"/>
          </a:xfrm>
          <a:prstGeom prst="roundRect">
            <a:avLst>
              <a:gd name="adj" fmla="val 5000"/>
            </a:avLst>
          </a:prstGeom>
          <a:solidFill>
            <a:srgbClr val="0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350240" y="1097280"/>
            <a:ext cx="42062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 dirty="0">
                <a:solidFill>
                  <a:srgbClr val="FFFFFF"/>
                </a:solidFill>
                <a:latin typeface="NB International Pro Mono"/>
              </a:rPr>
              <a:t>92.5%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0" y="329184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FFFFFF"/>
                </a:solidFill>
                <a:latin typeface="TT Commons"/>
              </a:rPr>
              <a:t>Global renewal rate
954 accounts renewing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20640"/>
            <a:ext cx="2907792" cy="4434840"/>
          </a:xfrm>
          <a:prstGeom prst="roundRect">
            <a:avLst>
              <a:gd name="adj" fmla="val 5000"/>
            </a:avLst>
          </a:prstGeom>
          <a:solidFill>
            <a:srgbClr val="FFE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5486400"/>
            <a:ext cx="258775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$500k+</a:t>
            </a:r>
          </a:p>
          <a:p>
            <a:pPr algn="l"/>
            <a:r>
              <a:rPr sz="5200" b="0">
                <a:solidFill>
                  <a:srgbClr val="10141D"/>
                </a:solidFill>
                <a:latin typeface="NB International Pro Mono"/>
              </a:rPr>
              <a:t>95.9%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9 accounts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0791" y="5120640"/>
            <a:ext cx="2907792" cy="4434840"/>
          </a:xfrm>
          <a:prstGeom prst="roundRect">
            <a:avLst>
              <a:gd name="adj" fmla="val 5000"/>
            </a:avLst>
          </a:prstGeom>
          <a:solidFill>
            <a:srgbClr val="CC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79392" y="5486400"/>
            <a:ext cx="258775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$200k–$500k</a:t>
            </a:r>
          </a:p>
          <a:p>
            <a:pPr algn="l"/>
            <a:r>
              <a:rPr sz="5200" b="0">
                <a:solidFill>
                  <a:srgbClr val="10141D"/>
                </a:solidFill>
                <a:latin typeface="NB International Pro Mono"/>
              </a:rPr>
              <a:t>92.5%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74 accounts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87184" y="5120640"/>
            <a:ext cx="2907792" cy="4434840"/>
          </a:xfrm>
          <a:prstGeom prst="roundRect">
            <a:avLst>
              <a:gd name="adj" fmla="val 5000"/>
            </a:avLst>
          </a:prstGeom>
          <a:solidFill>
            <a:srgbClr val="99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15783" y="5486400"/>
            <a:ext cx="258775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$100k–$200k</a:t>
            </a:r>
          </a:p>
          <a:p>
            <a:pPr algn="l"/>
            <a:r>
              <a:rPr sz="5200" b="0">
                <a:solidFill>
                  <a:srgbClr val="10141D"/>
                </a:solidFill>
                <a:latin typeface="NB International Pro Mono"/>
              </a:rPr>
              <a:t>92.1%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116 accounts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3576" y="5120640"/>
            <a:ext cx="2907792" cy="4434840"/>
          </a:xfrm>
          <a:prstGeom prst="roundRect">
            <a:avLst>
              <a:gd name="adj" fmla="val 5000"/>
            </a:avLst>
          </a:prstGeom>
          <a:solidFill>
            <a:srgbClr val="D9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52176" y="5486400"/>
            <a:ext cx="258775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$30k–$100k</a:t>
            </a:r>
          </a:p>
          <a:p>
            <a:pPr algn="l"/>
            <a:r>
              <a:rPr sz="5200" b="0">
                <a:solidFill>
                  <a:srgbClr val="10141D"/>
                </a:solidFill>
                <a:latin typeface="NB International Pro Mono"/>
              </a:rPr>
              <a:t>91.6%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772 accounts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411480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0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T Commons DemiBold"/>
              </a:rPr>
              <a:t>Renewal performance · Q2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645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10141D"/>
                </a:solidFill>
                <a:latin typeface="TT Commons DemiBold"/>
              </a:rPr>
              <a:t>Renewal rate by product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3703320" cy="5394960"/>
          </a:xfrm>
          <a:prstGeom prst="roundRect">
            <a:avLst>
              <a:gd name="adj" fmla="val 5000"/>
            </a:avLst>
          </a:prstGeom>
          <a:solidFill>
            <a:srgbClr val="D9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70432" y="2880360"/>
            <a:ext cx="33375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Experience Creation</a:t>
            </a:r>
          </a:p>
          <a:p>
            <a:pPr algn="l"/>
            <a:r>
              <a:rPr sz="6000" b="0">
                <a:solidFill>
                  <a:srgbClr val="10141D"/>
                </a:solidFill>
                <a:latin typeface="NB International Pro Mono"/>
              </a:rPr>
              <a:t>92.8%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445 accounts  |  $25.4M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46904" y="2468880"/>
            <a:ext cx="3703320" cy="5394960"/>
          </a:xfrm>
          <a:prstGeom prst="roundRect">
            <a:avLst>
              <a:gd name="adj" fmla="val 5000"/>
            </a:avLst>
          </a:prstGeom>
          <a:solidFill>
            <a:srgbClr val="E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02936" y="2880360"/>
            <a:ext cx="33375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AI (Opal)</a:t>
            </a:r>
          </a:p>
          <a:p>
            <a:pPr algn="l"/>
            <a:r>
              <a:rPr sz="6000" b="0">
                <a:solidFill>
                  <a:srgbClr val="10141D"/>
                </a:solidFill>
                <a:latin typeface="NB International Pro Mono"/>
              </a:rPr>
              <a:t>91.4%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6 accounts  |  $195k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408" y="2468880"/>
            <a:ext cx="3703320" cy="5394960"/>
          </a:xfrm>
          <a:prstGeom prst="roundRect">
            <a:avLst>
              <a:gd name="adj" fmla="val 5000"/>
            </a:avLst>
          </a:prstGeom>
          <a:solidFill>
            <a:srgbClr val="CC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0" y="2880360"/>
            <a:ext cx="33375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Experience Optimization</a:t>
            </a:r>
          </a:p>
          <a:p>
            <a:pPr algn="l"/>
            <a:r>
              <a:rPr sz="6000" b="0">
                <a:solidFill>
                  <a:srgbClr val="10141D"/>
                </a:solidFill>
                <a:latin typeface="NB International Pro Mono"/>
              </a:rPr>
              <a:t>86.4%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239 accounts  |  $26.5M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011912" y="2468880"/>
            <a:ext cx="3703320" cy="5394960"/>
          </a:xfrm>
          <a:prstGeom prst="roundRect">
            <a:avLst>
              <a:gd name="adj" fmla="val 5000"/>
            </a:avLst>
          </a:prstGeom>
          <a:solidFill>
            <a:srgbClr val="FFE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67944" y="2880360"/>
            <a:ext cx="33375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Other</a:t>
            </a:r>
          </a:p>
          <a:p>
            <a:pPr algn="l"/>
            <a:r>
              <a:rPr sz="6000" b="0">
                <a:solidFill>
                  <a:srgbClr val="10141D"/>
                </a:solidFill>
                <a:latin typeface="NB International Pro Mono"/>
              </a:rPr>
              <a:t>85.7%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389 accounts  |  $13.0M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41148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0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T Commons DemiBold"/>
              </a:rPr>
              <a:t>Opal ARR · 6-month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10141D"/>
                </a:solidFill>
                <a:latin typeface="TT Commons DemiBold"/>
              </a:rPr>
              <a:t>Opal ARR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0" y="2103120"/>
            <a:ext cx="4114800" cy="2331720"/>
          </a:xfrm>
          <a:prstGeom prst="roundRect">
            <a:avLst>
              <a:gd name="adj" fmla="val 5000"/>
            </a:avLst>
          </a:prstGeom>
          <a:solidFill>
            <a:srgbClr val="E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944600" y="2331720"/>
            <a:ext cx="374903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141D"/>
                </a:solidFill>
                <a:latin typeface="TT Commons DemiBold"/>
              </a:rPr>
              <a:t>May 2026 ARR</a:t>
            </a:r>
          </a:p>
          <a:p>
            <a:pPr algn="l"/>
            <a:r>
              <a:rPr sz="4400" b="0">
                <a:solidFill>
                  <a:srgbClr val="10141D"/>
                </a:solidFill>
                <a:latin typeface="NB International Pro Mono"/>
              </a:rPr>
              <a:t>$7.2M</a:t>
            </a:r>
          </a:p>
          <a:p>
            <a:pPr algn="l"/>
            <a:r>
              <a:rPr sz="1800" b="0">
                <a:solidFill>
                  <a:srgbClr val="10141D"/>
                </a:solidFill>
                <a:latin typeface="TT Commons"/>
              </a:rPr>
              <a:t>+4.4% MoM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0" y="4663440"/>
            <a:ext cx="4114800" cy="2331720"/>
          </a:xfrm>
          <a:prstGeom prst="roundRect">
            <a:avLst>
              <a:gd name="adj" fmla="val 5000"/>
            </a:avLst>
          </a:prstGeom>
          <a:solidFill>
            <a:srgbClr val="CC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944600" y="4892040"/>
            <a:ext cx="374903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141D"/>
                </a:solidFill>
                <a:latin typeface="TT Commons DemiBold"/>
              </a:rPr>
              <a:t>Apr 2026 ARR</a:t>
            </a:r>
          </a:p>
          <a:p>
            <a:pPr algn="l"/>
            <a:r>
              <a:rPr sz="4400" b="0">
                <a:solidFill>
                  <a:srgbClr val="10141D"/>
                </a:solidFill>
                <a:latin typeface="NB International Pro Mono"/>
              </a:rPr>
              <a:t>$6.9M</a:t>
            </a:r>
          </a:p>
          <a:p>
            <a:pPr algn="l"/>
            <a:r>
              <a:rPr sz="1800" b="0">
                <a:solidFill>
                  <a:srgbClr val="10141D"/>
                </a:solidFill>
                <a:latin typeface="TT Commons"/>
              </a:rPr>
              <a:t>+10.4% MoM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0" y="7223759"/>
            <a:ext cx="4114800" cy="2331720"/>
          </a:xfrm>
          <a:prstGeom prst="roundRect">
            <a:avLst>
              <a:gd name="adj" fmla="val 5000"/>
            </a:avLst>
          </a:prstGeom>
          <a:solidFill>
            <a:srgbClr val="D9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944600" y="7452359"/>
            <a:ext cx="374903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141D"/>
                </a:solidFill>
                <a:latin typeface="TT Commons DemiBold"/>
              </a:rPr>
              <a:t>6-month growth</a:t>
            </a:r>
          </a:p>
          <a:p>
            <a:pPr algn="l"/>
            <a:r>
              <a:rPr sz="4400" b="0">
                <a:solidFill>
                  <a:srgbClr val="10141D"/>
                </a:solidFill>
                <a:latin typeface="NB International Pro Mono"/>
              </a:rPr>
              <a:t>+142%</a:t>
            </a:r>
          </a:p>
          <a:p>
            <a:pPr algn="l"/>
            <a:r>
              <a:rPr sz="1800" b="0">
                <a:solidFill>
                  <a:srgbClr val="10141D"/>
                </a:solidFill>
                <a:latin typeface="TT Commons"/>
              </a:rPr>
              <a:t>Nov 25 to May 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2286000"/>
          <a:ext cx="12344400" cy="713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41148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0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T Commons DemiBold"/>
              </a:rPr>
              <a:t>Opal attach · Q2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9144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10141D"/>
                </a:solidFill>
                <a:latin typeface="TT Commons DemiBold"/>
              </a:rPr>
              <a:t>Opal attach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0"/>
            <a:ext cx="7772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0141D"/>
                </a:solidFill>
                <a:latin typeface="TT Commons"/>
              </a:rPr>
              <a:t>Of 239 active EO accounts in Q2 2026,
only 5 have Opal attached.
Attach rate is calculated as the share of
Experience Optimization customers who also
hold an active Opal subscription.
This represents a significant expansion
opportunity within the existing 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1371600"/>
            <a:ext cx="7772400" cy="8046720"/>
          </a:xfrm>
          <a:prstGeom prst="roundRect">
            <a:avLst>
              <a:gd name="adj" fmla="val 5000"/>
            </a:avLst>
          </a:prstGeom>
          <a:solidFill>
            <a:srgbClr val="E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92640" y="2011680"/>
            <a:ext cx="7589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0" i="0">
                <a:solidFill>
                  <a:srgbClr val="10141D"/>
                </a:solidFill>
                <a:latin typeface="NB International Pro Mono"/>
              </a:rPr>
              <a:t>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5943600"/>
            <a:ext cx="7589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0141D"/>
                </a:solidFill>
                <a:latin typeface="TT Commons"/>
              </a:rPr>
              <a:t>Opal attach rate
5 of 239 EO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41148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0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T Commons DemiBold"/>
              </a:rPr>
              <a:t>Portfolio movements · May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1691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10141D"/>
                </a:solidFill>
                <a:latin typeface="TT Commons DemiBold"/>
              </a:rPr>
              <a:t>ARR movements: May vs April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3703320" cy="5303520"/>
          </a:xfrm>
          <a:prstGeom prst="roundRect">
            <a:avLst>
              <a:gd name="adj" fmla="val 5000"/>
            </a:avLst>
          </a:prstGeom>
          <a:solidFill>
            <a:srgbClr val="D9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70432" y="2834640"/>
            <a:ext cx="3383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New logo &amp; xsell</a:t>
            </a:r>
          </a:p>
          <a:p>
            <a:pPr algn="l"/>
            <a:r>
              <a:rPr sz="5600" b="0">
                <a:solidFill>
                  <a:srgbClr val="10141D"/>
                </a:solidFill>
                <a:latin typeface="NB International Pro Mono"/>
              </a:rPr>
              <a:t>+$2.4M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35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46904" y="2468880"/>
            <a:ext cx="3703320" cy="5303520"/>
          </a:xfrm>
          <a:prstGeom prst="roundRect">
            <a:avLst>
              <a:gd name="adj" fmla="val 5000"/>
            </a:avLst>
          </a:prstGeom>
          <a:solidFill>
            <a:srgbClr val="B1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02936" y="2834640"/>
            <a:ext cx="3383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Expansion</a:t>
            </a:r>
          </a:p>
          <a:p>
            <a:pPr algn="l"/>
            <a:r>
              <a:rPr sz="5600" b="0">
                <a:solidFill>
                  <a:srgbClr val="10141D"/>
                </a:solidFill>
                <a:latin typeface="NB International Pro Mono"/>
              </a:rPr>
              <a:t>+$2.2M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321 accounts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408" y="2468880"/>
            <a:ext cx="3703320" cy="5303520"/>
          </a:xfrm>
          <a:prstGeom prst="roundRect">
            <a:avLst>
              <a:gd name="adj" fmla="val 5000"/>
            </a:avLst>
          </a:prstGeom>
          <a:solidFill>
            <a:srgbClr val="FFE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0" y="2834640"/>
            <a:ext cx="3383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Contraction</a:t>
            </a:r>
          </a:p>
          <a:p>
            <a:pPr algn="l"/>
            <a:r>
              <a:rPr sz="5600" b="0">
                <a:solidFill>
                  <a:srgbClr val="10141D"/>
                </a:solidFill>
                <a:latin typeface="NB International Pro Mono"/>
              </a:rPr>
              <a:t>-$1.8M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174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011912" y="2468880"/>
            <a:ext cx="3703320" cy="5303520"/>
          </a:xfrm>
          <a:prstGeom prst="roundRect">
            <a:avLst>
              <a:gd name="adj" fmla="val 5000"/>
            </a:avLst>
          </a:prstGeom>
          <a:solidFill>
            <a:srgbClr val="FF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67944" y="2834640"/>
            <a:ext cx="3383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41D"/>
                </a:solidFill>
                <a:latin typeface="TT Commons DemiBold"/>
              </a:rPr>
              <a:t>Full churn</a:t>
            </a:r>
          </a:p>
          <a:p>
            <a:pPr algn="l"/>
            <a:r>
              <a:rPr sz="5600" b="0">
                <a:solidFill>
                  <a:srgbClr val="10141D"/>
                </a:solidFill>
                <a:latin typeface="NB International Pro Mono"/>
              </a:rPr>
              <a:t>-$1.9M</a:t>
            </a:r>
          </a:p>
          <a:p>
            <a:pPr algn="l"/>
            <a:r>
              <a:rPr sz="2000" b="0">
                <a:solidFill>
                  <a:srgbClr val="10141D"/>
                </a:solidFill>
                <a:latin typeface="TT Commons"/>
              </a:rPr>
              <a:t>32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8001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141D"/>
                </a:solidFill>
                <a:latin typeface="TT Commons DemiBold"/>
              </a:rPr>
              <a:t>Net ARR movement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8549640"/>
            <a:ext cx="16459200" cy="1005840"/>
          </a:xfrm>
          <a:prstGeom prst="roundRect">
            <a:avLst>
              <a:gd name="adj" fmla="val 5000"/>
            </a:avLst>
          </a:prstGeom>
          <a:solidFill>
            <a:srgbClr val="D9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8613648"/>
            <a:ext cx="1609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0141D"/>
                </a:solidFill>
                <a:latin typeface="NB International Pro Mono"/>
              </a:rPr>
              <a:t>+$986k  net ARR  |  562 accounts with a movement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1554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TT Commons DemiBold"/>
              </a:rPr>
              <a:t>Questions?
Let's dig 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686800"/>
            <a:ext cx="1554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9AFFF"/>
                </a:solidFill>
                <a:latin typeface="TT Commons"/>
              </a:rPr>
              <a:t>Data sourced from Snowflake  ·  Snapshot date: 31 May 2026  ·  Constant-currency USD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6a66e58-4b85-455b-87c5-db0ab19663cd}" enabled="1" method="Standard" siteId="{3ec00d79-021a-42d4-aac8-dcb35973dff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325</Words>
  <Application>Microsoft Macintosh PowerPoint</Application>
  <PresentationFormat>Custom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NB International Pro Mono</vt:lpstr>
      <vt:lpstr>TT Commons</vt:lpstr>
      <vt:lpstr>TT Commons Book</vt:lpstr>
      <vt:lpstr>TT Commons DemiBold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Despi Evangelakou</cp:lastModifiedBy>
  <cp:revision>2</cp:revision>
  <dcterms:created xsi:type="dcterms:W3CDTF">2013-01-27T09:14:16Z</dcterms:created>
  <dcterms:modified xsi:type="dcterms:W3CDTF">2026-06-16T16:14:53Z</dcterms:modified>
  <cp:category/>
</cp:coreProperties>
</file>